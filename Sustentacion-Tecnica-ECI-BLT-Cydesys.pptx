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1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2161F"/>
                </a:solidFill>
                <a:latin typeface="Calibri"/>
              </a:defRPr>
            </a:pPr>
            <a:r>
              <a:rPr sz="1200" b="0" i="0" u="none" strike="noStrike">
                <a:solidFill>
                  <a:srgbClr val="12161F"/>
                </a:solidFill>
                <a:latin typeface="Calibri"/>
              </a:rPr>
              <a:t>Crecimiento lineal al sumar nodos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Capacidad relativa</c:v>
                </c:pt>
              </c:strCache>
            </c:strRef>
          </c:tx>
          <c:spPr>
            <a:solidFill>
              <a:srgbClr val="0B5ED7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48526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4 nodos</c:v>
                  </c:pt>
                  <c:pt idx="1">
                    <c:v>8 nodos</c:v>
                  </c:pt>
                  <c:pt idx="2">
                    <c:v>16 nodos</c:v>
                  </c:pt>
                  <c:pt idx="3">
                    <c:v>32 nodos</c:v>
                  </c:pt>
                  <c:pt idx="4">
                    <c:v>64 nodos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100</c:v>
                </c:pt>
                <c:pt idx="1">
                  <c:v>200</c:v>
                </c:pt>
                <c:pt idx="2">
                  <c:v>400</c:v>
                </c:pt>
                <c:pt idx="3">
                  <c:v>800</c:v>
                </c:pt>
                <c:pt idx="4">
                  <c:v>1600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48526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48526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Presentación de 45 minutos + 15 de preguntas. Objetivo: demostrar que la propuesta cumple y supera el numeral 4 del TdR, con una arquitectura simple de entender y operar.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24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82296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9DB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MODERNIZACIÓN DE LA PLATAFORMA DE PROCESAMIENTO Y ALMACENAMIENTO DEL DATACENTER INSTITUCIONAL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1737360"/>
            <a:ext cx="106984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Sustentación técnica de la propuesta</a:t>
            </a:r>
            <a:endParaRPr lang="en-US" sz="44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2971800"/>
            <a:ext cx="9875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plataforma moderna, simple de operar y sin dependencia de un único fabricante — dimensionada para los próximos 5 años de la Escuela.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777240" y="4480560"/>
            <a:ext cx="3840480" cy="0"/>
          </a:xfrm>
          <a:prstGeom prst="line">
            <a:avLst/>
          </a:prstGeom>
          <a:noFill/>
          <a:ln w="25400">
            <a:solidFill>
              <a:srgbClr val="0B5ED7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4709160"/>
            <a:ext cx="10698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Unión Temporal Blue Label Technologies + Cydesys</a:t>
            </a:r>
            <a:endParaRPr lang="en-US" sz="125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9DB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Presentación ante el comité técnico  ·  16 de septiembre de 2026  ·  45 min + 15 min de preguntas</a:t>
            </a: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0972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B5E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QUE CUBRIREMOS HOY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76656"/>
            <a:ext cx="110642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200"/>
              </a:lnSpc>
              <a:buNone/>
            </a:pPr>
            <a:r>
              <a:rPr lang="en-US" sz="3000" b="1" dirty="0">
                <a:solidFill>
                  <a:srgbClr val="1216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Agenda — 45 minutos de exposición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566928" cy="566928"/>
          </a:xfrm>
          <a:prstGeom prst="roundRect">
            <a:avLst>
              <a:gd name="adj" fmla="val 12903"/>
            </a:avLst>
          </a:prstGeom>
          <a:solidFill>
            <a:srgbClr val="E8F1FE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178308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B5ED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1325880" y="1746504"/>
            <a:ext cx="10241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500" b="1" dirty="0">
                <a:solidFill>
                  <a:srgbClr val="1216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Resumen ejecutivo   </a:t>
            </a:r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4852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arquitectura propuesta y cómo resuelve obsolescencia, escalabilidad y disponibilidad.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2624328"/>
            <a:ext cx="566928" cy="566928"/>
          </a:xfrm>
          <a:prstGeom prst="roundRect">
            <a:avLst>
              <a:gd name="adj" fmla="val 12903"/>
            </a:avLst>
          </a:prstGeom>
          <a:solidFill>
            <a:srgbClr val="E8F1FE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48640" y="2624328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B5ED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1325880" y="2587752"/>
            <a:ext cx="10241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500" b="1" dirty="0">
                <a:solidFill>
                  <a:srgbClr val="1216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Sustentación técnica del numeral 4.1   </a:t>
            </a:r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4852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Capacidad y desempeño · disponibilidad y resiliencia · seguridad · red · gestión y monitoreo.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48640" y="3465576"/>
            <a:ext cx="566928" cy="566928"/>
          </a:xfrm>
          <a:prstGeom prst="roundRect">
            <a:avLst>
              <a:gd name="adj" fmla="val 12903"/>
            </a:avLst>
          </a:prstGeom>
          <a:solidFill>
            <a:srgbClr val="E8F1FE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548640" y="3465576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B5ED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1325880" y="3429000"/>
            <a:ext cx="10241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500" b="1" dirty="0">
                <a:solidFill>
                  <a:srgbClr val="1216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de escalabilidad y crecimiento   </a:t>
            </a:r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4852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Cómo crece la plataforma sin interrumpir el servicio, con proyección a 5 años.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548640" y="4306824"/>
            <a:ext cx="566928" cy="566928"/>
          </a:xfrm>
          <a:prstGeom prst="roundRect">
            <a:avLst>
              <a:gd name="adj" fmla="val 12903"/>
            </a:avLst>
          </a:prstGeom>
          <a:solidFill>
            <a:srgbClr val="E8F1FE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548640" y="4306824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B5ED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000" dirty="0"/>
          </a:p>
        </p:txBody>
      </p:sp>
      <p:sp>
        <p:nvSpPr>
          <p:cNvPr id="15" name="Text 13"/>
          <p:cNvSpPr txBox="1"/>
          <p:nvPr/>
        </p:nvSpPr>
        <p:spPr>
          <a:xfrm>
            <a:off x="1325880" y="4270248"/>
            <a:ext cx="10241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500" b="1" dirty="0">
                <a:solidFill>
                  <a:srgbClr val="1216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Estrategia de migración   </a:t>
            </a:r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4852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Cómo pasamos las cargas desde VMware ESXi / vSAN con la mínima interrupción.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548640" y="5148072"/>
            <a:ext cx="566928" cy="566928"/>
          </a:xfrm>
          <a:prstGeom prst="roundRect">
            <a:avLst>
              <a:gd name="adj" fmla="val 12903"/>
            </a:avLst>
          </a:prstGeom>
          <a:solidFill>
            <a:srgbClr val="E8F1FE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548640" y="5148072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B5ED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000" dirty="0"/>
          </a:p>
        </p:txBody>
      </p:sp>
      <p:sp>
        <p:nvSpPr>
          <p:cNvPr id="18" name="Text 16"/>
          <p:cNvSpPr txBox="1"/>
          <p:nvPr/>
        </p:nvSpPr>
        <p:spPr>
          <a:xfrm>
            <a:off x="1325880" y="5111496"/>
            <a:ext cx="10241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500" b="1" dirty="0">
                <a:solidFill>
                  <a:srgbClr val="1216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Diferenciadores y valor agregado   </a:t>
            </a:r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4852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ofrece esta propuesta que las demás alternativas del mercado no.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457200" y="6473952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4852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Unión Temporal BLT–Cydesys  ·  Sustentación técnica  ·  ECI</a:t>
            </a:r>
            <a:endParaRPr lang="en-US" sz="800" dirty="0"/>
          </a:p>
        </p:txBody>
      </p:sp>
      <p:sp>
        <p:nvSpPr>
          <p:cNvPr id="20" name="Text 18"/>
          <p:cNvSpPr txBox="1"/>
          <p:nvPr/>
        </p:nvSpPr>
        <p:spPr>
          <a:xfrm>
            <a:off x="1133856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4852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0972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B5E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PUNTO 1 · EL PROBLEMA A RESOLVER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76656"/>
            <a:ext cx="110642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200"/>
              </a:lnSpc>
              <a:buNone/>
            </a:pPr>
            <a:r>
              <a:rPr lang="en-US" sz="3000" b="1" dirty="0">
                <a:solidFill>
                  <a:srgbClr val="1216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plataforma actual llegó a su límite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2697480" cy="1920240"/>
          </a:xfrm>
          <a:prstGeom prst="roundRect">
            <a:avLst>
              <a:gd name="adj" fmla="val 4762"/>
            </a:avLst>
          </a:prstGeom>
          <a:solidFill>
            <a:srgbClr val="FCEEE3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31520" y="2011680"/>
            <a:ext cx="2331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C2560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71 %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2788920"/>
            <a:ext cx="2331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1216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uso de almacenamiento hoy — y subiendo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3364992" y="1783080"/>
            <a:ext cx="2697480" cy="1920240"/>
          </a:xfrm>
          <a:prstGeom prst="roundRect">
            <a:avLst>
              <a:gd name="adj" fmla="val 4762"/>
            </a:avLst>
          </a:prstGeom>
          <a:solidFill>
            <a:srgbClr val="FBEAEA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3547872" y="2011680"/>
            <a:ext cx="2331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A32F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Estado “red”</a:t>
            </a:r>
            <a:endParaRPr lang="en-US" sz="2400" dirty="0"/>
          </a:p>
        </p:txBody>
      </p:sp>
      <p:sp>
        <p:nvSpPr>
          <p:cNvPr id="9" name="Text 7"/>
          <p:cNvSpPr txBox="1"/>
          <p:nvPr/>
        </p:nvSpPr>
        <p:spPr>
          <a:xfrm>
            <a:off x="3547872" y="2788920"/>
            <a:ext cx="2331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1216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propio vCenter reporta el clúster en alerta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181344" y="1783080"/>
            <a:ext cx="2697480" cy="1920240"/>
          </a:xfrm>
          <a:prstGeom prst="roundRect">
            <a:avLst>
              <a:gd name="adj" fmla="val 4762"/>
            </a:avLst>
          </a:prstGeom>
          <a:solidFill>
            <a:srgbClr val="FBEAEA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364224" y="2011680"/>
            <a:ext cx="2331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A32F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 de soporte</a:t>
            </a:r>
            <a:endParaRPr lang="en-US" sz="2400" dirty="0"/>
          </a:p>
        </p:txBody>
      </p:sp>
      <p:sp>
        <p:nvSpPr>
          <p:cNvPr id="12" name="Text 10"/>
          <p:cNvSpPr txBox="1"/>
          <p:nvPr/>
        </p:nvSpPr>
        <p:spPr>
          <a:xfrm>
            <a:off x="6364224" y="2788920"/>
            <a:ext cx="2331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1216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4 nodos Dell se acercan a fin de vida del fabricante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8997696" y="1783080"/>
            <a:ext cx="2697480" cy="1920240"/>
          </a:xfrm>
          <a:prstGeom prst="roundRect">
            <a:avLst>
              <a:gd name="adj" fmla="val 4762"/>
            </a:avLst>
          </a:prstGeom>
          <a:solidFill>
            <a:srgbClr val="FCEEE3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180576" y="2011680"/>
            <a:ext cx="2331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C2560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Licencia VMware</a:t>
            </a:r>
            <a:endParaRPr lang="en-US" sz="2400" dirty="0"/>
          </a:p>
        </p:txBody>
      </p:sp>
      <p:sp>
        <p:nvSpPr>
          <p:cNvPr id="15" name="Text 13"/>
          <p:cNvSpPr txBox="1"/>
          <p:nvPr/>
        </p:nvSpPr>
        <p:spPr>
          <a:xfrm>
            <a:off x="9180576" y="2788920"/>
            <a:ext cx="2331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1216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incertidumbre de costo y continuidad tras Broadcom</a:t>
            </a:r>
            <a:endParaRPr lang="en-US" sz="115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4114800"/>
            <a:ext cx="110642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400" b="1" dirty="0">
                <a:solidFill>
                  <a:srgbClr val="1216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objetivo de la invitación no es repetir el modelo actual</a:t>
            </a:r>
            <a:endParaRPr lang="en-US" sz="14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4852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 resolver la causa de fondo: eliminar la obsolescencia, recuperar margen de crecimiento y reducir la dependencia de un solo fabricante de hardware, red y virtualización.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548640" y="580644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4852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Fuentes: TdR 9-sep-2026 · Anexo 1 · inventario RVTools (66 VMs, 84 cores físicos) · BIA Tecnológico ECI.</a:t>
            </a:r>
            <a:endParaRPr lang="en-US" sz="900" dirty="0"/>
          </a:p>
        </p:txBody>
      </p:sp>
      <p:sp>
        <p:nvSpPr>
          <p:cNvPr id="18" name="Text 16"/>
          <p:cNvSpPr txBox="1"/>
          <p:nvPr/>
        </p:nvSpPr>
        <p:spPr>
          <a:xfrm>
            <a:off x="457200" y="6473952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4852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Unión Temporal BLT–Cydesys  ·  Sustentación técnica  ·  ECI</a:t>
            </a:r>
            <a:endParaRPr lang="en-US" sz="800" dirty="0"/>
          </a:p>
        </p:txBody>
      </p:sp>
      <p:sp>
        <p:nvSpPr>
          <p:cNvPr id="19" name="Text 17"/>
          <p:cNvSpPr txBox="1"/>
          <p:nvPr/>
        </p:nvSpPr>
        <p:spPr>
          <a:xfrm>
            <a:off x="1133856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4852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0972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B5E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PUNTO 1 · RESUMEN EJECUTIVO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76656"/>
            <a:ext cx="110642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200"/>
              </a:lnSpc>
              <a:buNone/>
            </a:pPr>
            <a:r>
              <a:rPr lang="en-US" sz="3000" b="1" dirty="0">
                <a:solidFill>
                  <a:srgbClr val="1216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Qué proponemos, en una frase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91640"/>
            <a:ext cx="68580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50" dirty="0">
                <a:solidFill>
                  <a:srgbClr val="1216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clúster de 4 nodos de cómputo de última generación, con virtualización </a:t>
            </a:r>
            <a:pPr indent="0" marL="0">
              <a:lnSpc>
                <a:spcPts val="2000"/>
              </a:lnSpc>
              <a:buNone/>
            </a:pPr>
            <a:r>
              <a:rPr lang="en-US" sz="1450" b="1" dirty="0">
                <a:solidFill>
                  <a:srgbClr val="0B5E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Sangfor aSV</a:t>
            </a:r>
            <a:pPr indent="0" marL="0">
              <a:lnSpc>
                <a:spcPts val="2000"/>
              </a:lnSpc>
              <a:buNone/>
            </a:pPr>
            <a:r>
              <a:rPr lang="en-US" sz="1450" dirty="0">
                <a:solidFill>
                  <a:srgbClr val="1216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(servidores) y </a:t>
            </a:r>
            <a:pPr indent="0" marL="0">
              <a:lnSpc>
                <a:spcPts val="2000"/>
              </a:lnSpc>
              <a:buNone/>
            </a:pPr>
            <a:r>
              <a:rPr lang="en-US" sz="1450" b="1" dirty="0">
                <a:solidFill>
                  <a:srgbClr val="0B5E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aNet</a:t>
            </a:r>
            <a:pPr indent="0" marL="0">
              <a:lnSpc>
                <a:spcPts val="2000"/>
              </a:lnSpc>
              <a:buNone/>
            </a:pPr>
            <a:r>
              <a:rPr lang="en-US" sz="1450" dirty="0">
                <a:solidFill>
                  <a:srgbClr val="1216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(red definida por software), sobre un almacenamiento unificado de alta velocidad — todo gestionado desde una sola consola.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3246120"/>
            <a:ext cx="6858000" cy="932688"/>
          </a:xfrm>
          <a:prstGeom prst="roundRect">
            <a:avLst>
              <a:gd name="adj" fmla="val 7843"/>
            </a:avLst>
          </a:prstGeom>
          <a:solidFill>
            <a:srgbClr val="F5F7FB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31520" y="3319272"/>
            <a:ext cx="1920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80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Obsolescencia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2697480" y="3300984"/>
            <a:ext cx="4572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4852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 nuevo sin fin de vida declarado + software con licencia perpetua. Se acaba el riesgo de soporte.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548640" y="4288536"/>
            <a:ext cx="6858000" cy="932688"/>
          </a:xfrm>
          <a:prstGeom prst="roundRect">
            <a:avLst>
              <a:gd name="adj" fmla="val 7843"/>
            </a:avLst>
          </a:prstGeom>
          <a:solidFill>
            <a:srgbClr val="F5F7FB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731520" y="4361688"/>
            <a:ext cx="1920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5ED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Escalabilidad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2697480" y="4343400"/>
            <a:ext cx="4572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4852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Holgura del 40 % sobre el pico actual desde el día uno, y crecimiento modular sin apagar nada.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48640" y="5330952"/>
            <a:ext cx="6858000" cy="932688"/>
          </a:xfrm>
          <a:prstGeom prst="roundRect">
            <a:avLst>
              <a:gd name="adj" fmla="val 7843"/>
            </a:avLst>
          </a:prstGeom>
          <a:solidFill>
            <a:srgbClr val="F5F7FB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31520" y="5404104"/>
            <a:ext cx="1920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2560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Disponibilidad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2697480" y="5385816"/>
            <a:ext cx="4572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4852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99,9 % de servicio, tolerancia a la caída de un nodo y recuperación por debajo de las 4 h del BIA.</a:t>
            </a:r>
            <a:endParaRPr lang="en-US" sz="1050" dirty="0"/>
          </a:p>
        </p:txBody>
      </p:sp>
      <p:pic>
        <p:nvPicPr>
          <p:cNvPr id="14" name="Image 0" descr="sangfor-images/hci-intro/ppt/media/image16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635240" y="1737360"/>
            <a:ext cx="4114800" cy="4206240"/>
          </a:xfrm>
          <a:prstGeom prst="rect">
            <a:avLst/>
          </a:prstGeom>
        </p:spPr>
      </p:pic>
      <p:sp>
        <p:nvSpPr>
          <p:cNvPr id="15" name="Text 12"/>
          <p:cNvSpPr txBox="1"/>
          <p:nvPr/>
        </p:nvSpPr>
        <p:spPr>
          <a:xfrm>
            <a:off x="7635240" y="594360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852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Arquitectura de referencia Sangfor: cómputo (aSV), red (aNet) y almacenamiento en una sola pila.</a:t>
            </a:r>
            <a:endParaRPr lang="en-US" sz="900" dirty="0"/>
          </a:p>
        </p:txBody>
      </p:sp>
      <p:sp>
        <p:nvSpPr>
          <p:cNvPr id="16" name="Text 13"/>
          <p:cNvSpPr txBox="1"/>
          <p:nvPr/>
        </p:nvSpPr>
        <p:spPr>
          <a:xfrm>
            <a:off x="457200" y="6473952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4852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Unión Temporal BLT–Cydesys  ·  Sustentación técnica  ·  ECI</a:t>
            </a:r>
            <a:endParaRPr lang="en-US" sz="800" dirty="0"/>
          </a:p>
        </p:txBody>
      </p:sp>
      <p:sp>
        <p:nvSpPr>
          <p:cNvPr id="17" name="Text 14"/>
          <p:cNvSpPr txBox="1"/>
          <p:nvPr/>
        </p:nvSpPr>
        <p:spPr>
          <a:xfrm>
            <a:off x="1133856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4852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0972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B5E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PUNTO 2 · SUSTENTACIÓN TÉCNICA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76656"/>
            <a:ext cx="110642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200"/>
              </a:lnSpc>
              <a:buNone/>
            </a:pPr>
            <a:r>
              <a:rPr lang="en-US" sz="3000" b="1" dirty="0">
                <a:solidFill>
                  <a:srgbClr val="1216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Numeral 4.1 — capacidad, disponibilidad y continuidad</a:t>
            </a:r>
            <a:endParaRPr lang="en-US" sz="30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91640"/>
          <a:ext cx="11064240" cy="914400"/>
        </p:xfrm>
        <a:graphic>
          <a:graphicData uri="http://schemas.openxmlformats.org/drawingml/2006/table">
            <a:tbl>
              <a:tblPr/>
              <a:tblGrid>
                <a:gridCol w="2468880"/>
                <a:gridCol w="4023360"/>
                <a:gridCol w="4572000"/>
              </a:tblGrid>
              <a:tr h="8229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Requerimiento (numeral 4.1)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F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F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F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F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Qué exige el TdR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F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F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F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F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Cómo lo cumple la solución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F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F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F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F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7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216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Capacidad y desempeño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F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F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F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F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1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852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Soportar ~62 VMs con holgura mínima del 40 % sobre el pico; capacidad útil ≥ 61,44 TB (objetivo 80–100 TB); escalar sin ventana de indisponibilidad.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F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F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F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F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216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aSV soporta las 66 VMs reales sobre 84 cores con más del 40 % de holgura; 90–123 TB útiles; expansión en caliente.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F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F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F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F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216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Disponibilidad, resiliencia y continuidad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F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F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F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F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1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852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Tolerancia a falla de al menos un nodo (N-1); SLA ≥ 99,9 % con penalidades; RPO/RTO sustentados; backup de todas las cargas.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F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F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F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F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216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Proactive HA N-1 + migración en caliente = 99,9 %; RTO &lt; 4 h alineado al BIA; integración nativa por API con Acronis.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F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F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F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F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457200" y="6473952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4852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Unión Temporal BLT–Cydesys  ·  Sustentación técnica  ·  ECI</a:t>
            </a:r>
            <a:endParaRPr lang="en-US" sz="800" dirty="0"/>
          </a:p>
        </p:txBody>
      </p:sp>
      <p:sp>
        <p:nvSpPr>
          <p:cNvPr id="6" name="Text 3"/>
          <p:cNvSpPr txBox="1"/>
          <p:nvPr/>
        </p:nvSpPr>
        <p:spPr>
          <a:xfrm>
            <a:off x="1133856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4852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0972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B5E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PUNTO 2 · SUSTENTACIÓN TÉCNICA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76656"/>
            <a:ext cx="110642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200"/>
              </a:lnSpc>
              <a:buNone/>
            </a:pPr>
            <a:r>
              <a:rPr lang="en-US" sz="3000" b="1" dirty="0">
                <a:solidFill>
                  <a:srgbClr val="1216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Numeral 4.1 — seguridad, red y gestión</a:t>
            </a:r>
            <a:endParaRPr lang="en-US" sz="30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91640"/>
          <a:ext cx="11064240" cy="914400"/>
        </p:xfrm>
        <a:graphic>
          <a:graphicData uri="http://schemas.openxmlformats.org/drawingml/2006/table">
            <a:tbl>
              <a:tblPr/>
              <a:tblGrid>
                <a:gridCol w="2468880"/>
                <a:gridCol w="4023360"/>
                <a:gridCol w="4572000"/>
              </a:tblGrid>
              <a:tr h="8229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Requerimiento (numeral 4.1)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F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F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F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F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Qué exige el TdR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F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F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F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F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Cómo lo cumple la solución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F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F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F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F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7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216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Seguridad y cumplimiento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F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F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F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F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1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852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Identidades centralizadas con MFA y RBAC; auditoría inmutable; Ley 1581 de 2012; alineación ISO 27001.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F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F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F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F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216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MFA + RBAC + auditoría Syslog; microsegmentación con aNet contra movimiento lateral; datos en sitio, soberanía garantizada.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F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F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F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F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216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Red y conectividad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F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F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F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F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1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852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Conectividad redundante ≥ 10 Gbps con crecimiento a 25/40 Gbps; integración con la topología actual.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F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F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F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F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216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Enlaces redundantes a 25 Gbps (crecen a 40/100); conmutación virtual aNet integrada al core y al firewall Checkpoint 9300.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F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F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F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F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216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Gestión, monitoreo e integración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F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F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F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F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1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852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Consola única con interfaz gráfica y automatización por API/CLI; reportes de capacidad y consumo.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F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F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F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F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216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Consola única SCP (HTML5) + API REST; SkyOps con IA para monitoreo proactivo y planeación de capacidad predictiva.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F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F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F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F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457200" y="6473952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4852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Unión Temporal BLT–Cydesys  ·  Sustentación técnica  ·  ECI</a:t>
            </a:r>
            <a:endParaRPr lang="en-US" sz="800" dirty="0"/>
          </a:p>
        </p:txBody>
      </p:sp>
      <p:sp>
        <p:nvSpPr>
          <p:cNvPr id="6" name="Text 3"/>
          <p:cNvSpPr txBox="1"/>
          <p:nvPr/>
        </p:nvSpPr>
        <p:spPr>
          <a:xfrm>
            <a:off x="1133856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4852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0972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B5E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PUNTO 3 · ESCALABILIDAD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76656"/>
            <a:ext cx="110642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200"/>
              </a:lnSpc>
              <a:buNone/>
            </a:pPr>
            <a:r>
              <a:rPr lang="en-US" sz="3000" b="1" dirty="0">
                <a:solidFill>
                  <a:srgbClr val="1216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Crece sumando nodos — sin apagar nada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45920"/>
            <a:ext cx="5486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b="1" dirty="0">
                <a:solidFill>
                  <a:srgbClr val="1216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tradicional (scale-up): </a:t>
            </a:r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4852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llenan las ranuras del servidor o se satura la cabina, y toca reemplazar todo.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514600"/>
            <a:ext cx="54864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b="1" dirty="0">
                <a:solidFill>
                  <a:srgbClr val="0B5E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propuesto (scale-out): </a:t>
            </a:r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4852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agrega un nodo y crecen a la vez cómputo, memoria y disco, de forma lineal y predecible, en caliente. Del clúster base de 4 nodos hasta 64, todo en una sola consola.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4297680"/>
            <a:ext cx="5486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2000" b="1" dirty="0">
                <a:solidFill>
                  <a:srgbClr val="1280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40 %</a:t>
            </a:r>
            <a:endParaRPr lang="en-US" sz="20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4852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holgura sobre el pico actual desde el arranque — margen para 5 años.</a:t>
            </a:r>
            <a:endParaRPr lang="en-US" sz="2000" dirty="0"/>
          </a:p>
        </p:txBody>
      </p:sp>
      <p:graphicFrame>
        <p:nvGraphicFramePr>
          <p:cNvPr id="7" name="Chart 0" descr=""/>
          <p:cNvGraphicFramePr/>
          <p:nvPr/>
        </p:nvGraphicFramePr>
        <p:xfrm>
          <a:off x="6400800" y="1691640"/>
          <a:ext cx="5303520" cy="42976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8" name="Text 5"/>
          <p:cNvSpPr txBox="1"/>
          <p:nvPr/>
        </p:nvSpPr>
        <p:spPr>
          <a:xfrm>
            <a:off x="457200" y="6473952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4852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Unión Temporal BLT–Cydesys  ·  Sustentación técnica  ·  ECI</a:t>
            </a:r>
            <a:endParaRPr lang="en-US" sz="800" dirty="0"/>
          </a:p>
        </p:txBody>
      </p:sp>
      <p:sp>
        <p:nvSpPr>
          <p:cNvPr id="9" name="Text 6"/>
          <p:cNvSpPr txBox="1"/>
          <p:nvPr/>
        </p:nvSpPr>
        <p:spPr>
          <a:xfrm>
            <a:off x="1133856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4852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0972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B5E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PUNTO 4 · MIGRACIÓN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76656"/>
            <a:ext cx="110642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200"/>
              </a:lnSpc>
              <a:buNone/>
            </a:pPr>
            <a:r>
              <a:rPr lang="en-US" sz="3000" b="1" dirty="0">
                <a:solidFill>
                  <a:srgbClr val="1216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 VMware ESXi / vSAN a la nueva plataforma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3611880" cy="2468880"/>
          </a:xfrm>
          <a:prstGeom prst="roundRect">
            <a:avLst>
              <a:gd name="adj" fmla="val 3704"/>
            </a:avLst>
          </a:prstGeom>
          <a:solidFill>
            <a:srgbClr val="F5F7FB"/>
          </a:solidFill>
          <a:ln/>
        </p:spPr>
      </p:sp>
      <p:sp>
        <p:nvSpPr>
          <p:cNvPr id="5" name="Shape 3"/>
          <p:cNvSpPr/>
          <p:nvPr/>
        </p:nvSpPr>
        <p:spPr>
          <a:xfrm>
            <a:off x="777240" y="2011680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0B5ED7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77240" y="20116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69748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16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Réplica en caliente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3154680"/>
            <a:ext cx="3200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4852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herramienta Sangfor (SCMT) copia cada máquina virtual en segundo plano, sin tocar la operación.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325112" y="1783080"/>
            <a:ext cx="3611880" cy="2468880"/>
          </a:xfrm>
          <a:prstGeom prst="roundRect">
            <a:avLst>
              <a:gd name="adj" fmla="val 3704"/>
            </a:avLst>
          </a:prstGeom>
          <a:solidFill>
            <a:srgbClr val="F5F7FB"/>
          </a:solidFill>
          <a:ln/>
        </p:spPr>
      </p:sp>
      <p:sp>
        <p:nvSpPr>
          <p:cNvPr id="10" name="Shape 8"/>
          <p:cNvSpPr/>
          <p:nvPr/>
        </p:nvSpPr>
        <p:spPr>
          <a:xfrm>
            <a:off x="4553712" y="2011680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0B5ED7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553712" y="20116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4553712" y="269748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16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Sincronización incremental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4553712" y="3154680"/>
            <a:ext cx="3200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4852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Solo se copian los cambios (deltas). Las dos plataformas conviven en la red durante todo el proceso.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8101584" y="1783080"/>
            <a:ext cx="3611880" cy="2468880"/>
          </a:xfrm>
          <a:prstGeom prst="roundRect">
            <a:avLst>
              <a:gd name="adj" fmla="val 3704"/>
            </a:avLst>
          </a:prstGeom>
          <a:solidFill>
            <a:srgbClr val="F5F7FB"/>
          </a:solidFill>
          <a:ln/>
        </p:spPr>
      </p:sp>
      <p:sp>
        <p:nvSpPr>
          <p:cNvPr id="15" name="Shape 13"/>
          <p:cNvSpPr/>
          <p:nvPr/>
        </p:nvSpPr>
        <p:spPr>
          <a:xfrm>
            <a:off x="8330184" y="2011680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0B5ED7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330184" y="20116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8330184" y="269748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16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Corte final y validación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8330184" y="3154680"/>
            <a:ext cx="3200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4852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Ventana de minutos, fuera de horario: se apaga el original y se enciende el nuevo. Se valida y se cierra.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548640" y="4526280"/>
            <a:ext cx="11064240" cy="1371600"/>
          </a:xfrm>
          <a:prstGeom prst="roundRect">
            <a:avLst>
              <a:gd name="adj" fmla="val 6667"/>
            </a:avLst>
          </a:prstGeom>
          <a:solidFill>
            <a:srgbClr val="E8F1FE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822960" y="4663440"/>
            <a:ext cx="10515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300" b="1" dirty="0">
                <a:solidFill>
                  <a:srgbClr val="0B5E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Cero interrupción para la carga masiva.  </a:t>
            </a:r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1216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Compatible con las 66 VMs de la Escuela (Windows Server, Linux, Oracle Linux) y coexiste con Acronis Backup y el firewall Checkpoint 9300. La migración se secuencia por capas de servicio, dejando las cargas críticas para el final.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457200" y="6473952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4852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Unión Temporal BLT–Cydesys  ·  Sustentación técnica  ·  ECI</a:t>
            </a:r>
            <a:endParaRPr lang="en-US" sz="800" dirty="0"/>
          </a:p>
        </p:txBody>
      </p:sp>
      <p:sp>
        <p:nvSpPr>
          <p:cNvPr id="22" name="Text 20"/>
          <p:cNvSpPr txBox="1"/>
          <p:nvPr/>
        </p:nvSpPr>
        <p:spPr>
          <a:xfrm>
            <a:off x="1133856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4852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0972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B5E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PUNTO 5 · DIFERENCIADORES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76656"/>
            <a:ext cx="110642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200"/>
              </a:lnSpc>
              <a:buNone/>
            </a:pPr>
            <a:r>
              <a:rPr lang="en-US" sz="3000" b="1" dirty="0">
                <a:solidFill>
                  <a:srgbClr val="1216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Qué ofrece esta propuesta que las demás no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7373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80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932688" y="1691640"/>
            <a:ext cx="50749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1200" b="1" dirty="0">
                <a:solidFill>
                  <a:srgbClr val="1216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Licencia perpetua  </a:t>
            </a:r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4852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compra una vez, por socket de CPU. Sin la escalada de suscripción de Broadcom/VMware.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6172200" y="17373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80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6556248" y="1691640"/>
            <a:ext cx="50749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1200" b="1" dirty="0">
                <a:solidFill>
                  <a:srgbClr val="1216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sola consola  </a:t>
            </a:r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4852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Cómputo, red, gestión y analítica con IA en una interfaz — no cinco herramientas separadas.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290779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80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932688" y="2862072"/>
            <a:ext cx="50749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1200" b="1" dirty="0">
                <a:solidFill>
                  <a:srgbClr val="1216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Microsegmentación incluida  </a:t>
            </a:r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4852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Aísla cargas y frena el movimiento lateral de amenazas, sin licencias de seguridad adicionales.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6172200" y="290779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80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6556248" y="2862072"/>
            <a:ext cx="50749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1200" b="1" dirty="0">
                <a:solidFill>
                  <a:srgbClr val="1216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Migración sin downtime  </a:t>
            </a:r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4852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66 VMs se replican en segundo plano; la operación académica no se detiene.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4078224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80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932688" y="4032504"/>
            <a:ext cx="50749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1200" b="1" dirty="0">
                <a:solidFill>
                  <a:srgbClr val="1216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Soporte local en español  </a:t>
            </a:r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4852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BLT (SOC 24/7) + Cydesys (+50 años en infraestructura) + respaldo directo de Sangfor.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6172200" y="4078224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80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6556248" y="4032504"/>
            <a:ext cx="50749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1200" b="1" dirty="0">
                <a:solidFill>
                  <a:srgbClr val="1216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Cero vendor lock-in  </a:t>
            </a:r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4852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Licencia perpetua y portabilidad de datos al terminar el contrato — estrategia de salida real.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5248656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80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932688" y="5202936"/>
            <a:ext cx="50749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1200" b="1" dirty="0">
                <a:solidFill>
                  <a:srgbClr val="1216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Alineada al BIA de la Escuela  </a:t>
            </a:r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4852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RTO &lt; 4 h para los 34 servicios críticos que la propia ECI priorizó en su BIA.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6172200" y="5248656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80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6556248" y="5202936"/>
            <a:ext cx="50749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1200" b="1" dirty="0">
                <a:solidFill>
                  <a:srgbClr val="1216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TCO menor + capacitación  </a:t>
            </a:r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4852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Costo total a 5 años por debajo de nube pública y competidores, con transferencia de conocimiento incluida.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457200" y="6473952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4852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Unión Temporal BLT–Cydesys  ·  Sustentación técnica  ·  ECI</a:t>
            </a:r>
            <a:endParaRPr lang="en-US" sz="800" dirty="0"/>
          </a:p>
        </p:txBody>
      </p:sp>
      <p:sp>
        <p:nvSpPr>
          <p:cNvPr id="21" name="Text 19"/>
          <p:cNvSpPr txBox="1"/>
          <p:nvPr/>
        </p:nvSpPr>
        <p:spPr>
          <a:xfrm>
            <a:off x="1133856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4852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24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91440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9DB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QUÉ LA UNIÓN TEMPORAL BLT + CYDESYS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1371600"/>
            <a:ext cx="106984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6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Una propuesta que cumple el requisito — y opera el día después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292608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 Label Technologies — </a:t>
            </a:r>
            <a:pPr indent="0" marL="0">
              <a:lnSpc>
                <a:spcPts val="1800"/>
              </a:lnSpc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Arquitectura, gobierno del proyecto, SOC 24/7 y canal directo de Sangfor.</a:t>
            </a:r>
            <a:endParaRPr lang="en-US" sz="135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3675888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Cydesys — </a:t>
            </a:r>
            <a:pPr indent="0" marL="0">
              <a:lnSpc>
                <a:spcPts val="1800"/>
              </a:lnSpc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Más de 50 años en infraestructura física, capacidad financiera y ejecución en sitio.</a:t>
            </a:r>
            <a:endParaRPr lang="en-US" sz="135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4425696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Sangfor — </a:t>
            </a:r>
            <a:pPr indent="0" marL="0">
              <a:lnSpc>
                <a:spcPts val="1800"/>
              </a:lnSpc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Fabricante líder en hiperconvergencia, con soporte regional y casos comprobados.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822960" y="5440680"/>
            <a:ext cx="3657600" cy="0"/>
          </a:xfrm>
          <a:prstGeom prst="line">
            <a:avLst/>
          </a:prstGeom>
          <a:noFill/>
          <a:ln w="25400">
            <a:solidFill>
              <a:srgbClr val="0B5ED7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22960" y="562356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Cumple y supera el numeral 4. Simple de operar. Sin depender de un solo fabricante.</a:t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24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2743200"/>
            <a:ext cx="10698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Preguntas del comité técnico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374904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DB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minutos  ·  Unión Temporal BLT + Cydesys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Sustentación Técnica — Modernización Datacenter ECI</dc:title>
  <dc:subject>PptxGenJS Presentation</dc:subject>
  <dc:creator>Unión Temporal BLT–Cydesys</dc:creator>
  <cp:lastModifiedBy>Unión Temporal BLT–Cydesys</cp:lastModifiedBy>
  <cp:revision>1</cp:revision>
  <dcterms:created xsi:type="dcterms:W3CDTF">2026-09-10T22:47:00Z</dcterms:created>
  <dcterms:modified xsi:type="dcterms:W3CDTF">2026-09-10T22:47:00Z</dcterms:modified>
</cp:coreProperties>
</file>